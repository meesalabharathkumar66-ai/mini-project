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>
      <p:cViewPr>
        <p:scale>
          <a:sx n="85" d="100"/>
          <a:sy n="85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457200" indent="-298450">
              <a:spcBef>
                <a:spcPts val="0"/>
              </a:spcBef>
              <a:spcAft>
                <a:spcPts val="0"/>
              </a:spcAft>
              <a:buSzPts val="1100"/>
              <a:buFont typeface="Droid Sans"/>
              <a:buChar char="●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26909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8922280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8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4371399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3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27656807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7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22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66608633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对象"/>
          <p:cNvSpPr>
            <a:spLocks noGrp="1"/>
          </p:cNvSpPr>
          <p:nvPr>
            <p:ph type="sldImg" idx="2"/>
          </p:nvPr>
        </p:nvSpPr>
        <p:spPr>
          <a:xfrm rot="0">
            <a:off x="1143225" y="685800"/>
            <a:ext cx="45723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99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46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136554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954814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1477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212864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30150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33871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619576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5104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49426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93012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732746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45700" rIns="91425" bIns="4570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45700" rIns="91425" bIns="4570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45700" rIns="91425" bIns="4570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45754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/>
          </a:bodyPr>
          <a:lstStyle/>
          <a:p>
            <a:pPr marL="457200" indent="-43180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itchFamily="0" charset="0"/>
              <a:buChar char="•"/>
            </a:pP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pitchFamily="0" charset="0"/>
                <a:ea typeface="Calibri" pitchFamily="0" charset="0"/>
                <a:cs typeface="Calibri" pitchFamily="0" charset="0"/>
                <a:sym typeface="Calibri" pitchFamily="0" charset="0"/>
              </a:rPr>
              <a:t>&lt;#&gt;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3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image" Target="../media/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5.png"/><Relationship Id="rId3" Type="http://schemas.openxmlformats.org/officeDocument/2006/relationships/image" Target="../media/6.png"/><Relationship Id="rId4" Type="http://schemas.openxmlformats.org/officeDocument/2006/relationships/image" Target="../media/7.png"/><Relationship Id="rId5" Type="http://schemas.openxmlformats.org/officeDocument/2006/relationships/image" Target="../media/8.png"/><Relationship Id="rId6" Type="http://schemas.openxmlformats.org/officeDocument/2006/relationships/image" Target="../media/9.png"/><Relationship Id="rId7" Type="http://schemas.openxmlformats.org/officeDocument/2006/relationships/image" Target="../media/10.png"/><Relationship Id="rId8" Type="http://schemas.openxmlformats.org/officeDocument/2006/relationships/slideLayout" Target="../slideLayouts/slideLayout1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11.png"/><Relationship Id="rId3" Type="http://schemas.openxmlformats.org/officeDocument/2006/relationships/image" Target="../media/12.png"/><Relationship Id="rId4" Type="http://schemas.openxmlformats.org/officeDocument/2006/relationships/image" Target="../media/13.png"/><Relationship Id="rId5" Type="http://schemas.openxmlformats.org/officeDocument/2006/relationships/image" Target="../media/14.png"/><Relationship Id="rId6" Type="http://schemas.openxmlformats.org/officeDocument/2006/relationships/image" Target="../media/15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16.png"/><Relationship Id="rId3" Type="http://schemas.openxmlformats.org/officeDocument/2006/relationships/image" Target="../media/17.png"/><Relationship Id="rId4" Type="http://schemas.openxmlformats.org/officeDocument/2006/relationships/image" Target="../media/18.png"/><Relationship Id="rId5" Type="http://schemas.openxmlformats.org/officeDocument/2006/relationships/image" Target="../media/18.png"/><Relationship Id="rId6" Type="http://schemas.openxmlformats.org/officeDocument/2006/relationships/image" Target="../media/18.png"/><Relationship Id="rId7" Type="http://schemas.openxmlformats.org/officeDocument/2006/relationships/image" Target="../media/18.png"/><Relationship Id="rId8" Type="http://schemas.openxmlformats.org/officeDocument/2006/relationships/image" Target="../media/1.png"/><Relationship Id="rId9" Type="http://schemas.openxmlformats.org/officeDocument/2006/relationships/image" Target="../media/18.png"/><Relationship Id="rId10" Type="http://schemas.openxmlformats.org/officeDocument/2006/relationships/image" Target="../media/18.png"/><Relationship Id="rId11" Type="http://schemas.openxmlformats.org/officeDocument/2006/relationships/image" Target="../media/18.png"/><Relationship Id="rId12" Type="http://schemas.openxmlformats.org/officeDocument/2006/relationships/image" Target="../media/18.png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19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3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" descr="image.png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13" name="图片" descr="image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71500" y="442912"/>
            <a:ext cx="1566564" cy="36195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14" name="图片" descr="image.pn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71500" y="4957762"/>
            <a:ext cx="6286499" cy="124777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5" name="矩形"/>
          <p:cNvSpPr>
            <a:spLocks/>
          </p:cNvSpPr>
          <p:nvPr/>
        </p:nvSpPr>
        <p:spPr>
          <a:xfrm rot="0">
            <a:off x="571500" y="995361"/>
            <a:ext cx="6600825" cy="19907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0" cap="none" spc="0" baseline="0">
                <a:solidFill>
                  <a:srgbClr val="D6F8A1"/>
                </a:solidFill>
                <a:latin typeface="Red Hat Display Black" pitchFamily="0" charset="0"/>
                <a:ea typeface="Red Hat Display Black" pitchFamily="0" charset="0"/>
                <a:cs typeface="Red Hat Display Black" pitchFamily="0" charset="0"/>
                <a:sym typeface="Red Hat Display Black" pitchFamily="0" charset="0"/>
              </a:rPr>
              <a:t>Secure Digital Asset Management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571488" y="4032036"/>
            <a:ext cx="6286499" cy="8001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Protecting Digital Assets with Blockchain-Inspired Auditing and AES Encryption.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17" name="图片" descr="image.pn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7620000" y="2337941"/>
            <a:ext cx="3810000" cy="2143869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18" name="矩形"/>
          <p:cNvSpPr>
            <a:spLocks/>
          </p:cNvSpPr>
          <p:nvPr/>
        </p:nvSpPr>
        <p:spPr>
          <a:xfrm rot="0">
            <a:off x="571500" y="5367337"/>
            <a:ext cx="6286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Presented By 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</a:rPr>
              <a:t>M Bharath Kumar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571500" y="5891212"/>
            <a:ext cx="6286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Roll No               : 2</a:t>
            </a: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</a:rPr>
              <a:t>3AK1A3607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291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3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" descr="image.png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23" name="图片" descr="image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71500" y="2280344"/>
            <a:ext cx="3492549" cy="3581399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24" name="图片" descr="image.pn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349799" y="2280344"/>
            <a:ext cx="3492549" cy="3581399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25" name="图片" descr="image.pn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128098" y="2280344"/>
            <a:ext cx="3492548" cy="3581399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26" name="矩形"/>
          <p:cNvSpPr>
            <a:spLocks/>
          </p:cNvSpPr>
          <p:nvPr/>
        </p:nvSpPr>
        <p:spPr>
          <a:xfrm rot="0">
            <a:off x="894237" y="3490019"/>
            <a:ext cx="2847074" cy="3143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The Problem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962025" y="4004369"/>
            <a:ext cx="2711499" cy="154304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Traditional file storage systems lack native end-to-end encryption, leaving data vulnerable.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4672537" y="3490019"/>
            <a:ext cx="2847074" cy="3143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The Risk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4740324" y="4004369"/>
            <a:ext cx="2711499" cy="154304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Server-side breaches and lack of tamper-proof audit trails expose critical file interactions.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8450836" y="3490019"/>
            <a:ext cx="2847074" cy="3143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The Need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8518624" y="4004369"/>
            <a:ext cx="2711499" cy="11572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A unified vault combining high-security encryption with proactive monitoring.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32" name="图片" descr="image.png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2051000" y="2689919"/>
            <a:ext cx="533400" cy="47625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33" name="图片" descr="image.png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5829300" y="2689919"/>
            <a:ext cx="533400" cy="47625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34" name="图片" descr="image.png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9607599" y="2689919"/>
            <a:ext cx="533399" cy="47625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5" name="矩形"/>
          <p:cNvSpPr>
            <a:spLocks/>
          </p:cNvSpPr>
          <p:nvPr/>
        </p:nvSpPr>
        <p:spPr>
          <a:xfrm rot="0">
            <a:off x="809625" y="950861"/>
            <a:ext cx="11351418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THE SECURITY GAP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571500" y="950861"/>
            <a:ext cx="76200" cy="523875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9828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3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" descr="image.png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40" name="矩形"/>
          <p:cNvSpPr>
            <a:spLocks/>
          </p:cNvSpPr>
          <p:nvPr/>
        </p:nvSpPr>
        <p:spPr>
          <a:xfrm rot="0">
            <a:off x="1143000" y="2766119"/>
            <a:ext cx="10477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Architecture: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Spring Boot micro-monolith focusing on a "Security First" design pattern.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1143000" y="3318569"/>
            <a:ext cx="10477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Encryption: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Robust AES-128 bit encryption enforced for every byte of uploaded data.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1143000" y="3871019"/>
            <a:ext cx="10477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Integrity: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Blockchain-inspired logging; security events are SHA-256 hashed and chained.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1143000" y="4423469"/>
            <a:ext cx="10477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Frontend: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Glassmorphic UI with Three.js WebGL backgrounds for immersive visuals.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1143000" y="4975919"/>
            <a:ext cx="10477499" cy="38576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Database: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H2 embedded database utilized with encrypted storage pathing.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45" name="图片" descr="image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71500" y="2808982"/>
            <a:ext cx="323850" cy="29527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46" name="图片" descr="image.pn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71500" y="3361432"/>
            <a:ext cx="285750" cy="295275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47" name="图片" descr="image.pn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571500" y="3913882"/>
            <a:ext cx="361950" cy="29527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48" name="图片" descr="image.png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71500" y="4466332"/>
            <a:ext cx="323850" cy="295275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49" name="图片" descr="image.png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571500" y="5018782"/>
            <a:ext cx="247650" cy="295275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50" name="矩形"/>
          <p:cNvSpPr>
            <a:spLocks/>
          </p:cNvSpPr>
          <p:nvPr/>
        </p:nvSpPr>
        <p:spPr>
          <a:xfrm rot="0">
            <a:off x="809625" y="950861"/>
            <a:ext cx="11351418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METHODOLOGY &amp; APPROACH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571500" y="950861"/>
            <a:ext cx="76200" cy="523875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306937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3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" descr="image.png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55" name="矩形"/>
          <p:cNvSpPr>
            <a:spLocks/>
          </p:cNvSpPr>
          <p:nvPr/>
        </p:nvSpPr>
        <p:spPr>
          <a:xfrm rot="0">
            <a:off x="809625" y="808880"/>
            <a:ext cx="4950617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PROJECT OUTCOME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571500" y="808880"/>
            <a:ext cx="76200" cy="1047749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571500" y="2447180"/>
            <a:ext cx="4953000" cy="7715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Successful Deployment: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A functional web-based vault for secure asset deposit/withdrawal.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571500" y="3494930"/>
            <a:ext cx="4953000" cy="7715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Zero-Plaintext Storage: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No sensitive files are stored in original form; byte-level encryption is absolute.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571500" y="4542680"/>
            <a:ext cx="4953000" cy="7715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Secure Auditing: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Verified tamper-proof logs detect any unauthorized audit alterations instantly.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571500" y="5590430"/>
            <a:ext cx="4953000" cy="7715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User Engagement:</a:t>
            </a:r>
            <a:r>
              <a:rPr lang="en-US" altLang="zh-CN" sz="1650" b="0" i="0" u="none" strike="noStrike" kern="0" cap="none" spc="0" baseline="0">
                <a:solidFill>
                  <a:srgbClr val="F1F1F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 Premium UI/UX that simplifies high-level security management.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pic>
        <p:nvPicPr>
          <p:cNvPr id="61" name="图片" descr="image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096000" y="0"/>
            <a:ext cx="6096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62" name="图片" descr="image.pn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63" name="矩形"/>
          <p:cNvSpPr>
            <a:spLocks/>
          </p:cNvSpPr>
          <p:nvPr/>
        </p:nvSpPr>
        <p:spPr>
          <a:xfrm rot="0">
            <a:off x="1047750" y="258603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Successful Deployment: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A fully functional web-based vault for depositing and withdrawing assets with total privacy.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1047750" y="317658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Zero-Plaintext Storage: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No sensitive files are stored in their original form; everything is encrypted at the byte level.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1047750" y="376713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Secure Auditing: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Verified tamper-proof logs that can detect if an audit entry has been altered, ensuring accountability.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1047750" y="466248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User Engagement: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Premium UI/UX that makes high-level security management accessible and visually engaging.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809625" y="571500"/>
            <a:ext cx="11351400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RESULTS &amp; OUTCOMES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571500" y="571500"/>
            <a:ext cx="95399" cy="523800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571500" y="6210300"/>
            <a:ext cx="11048999" cy="76200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pic>
        <p:nvPicPr>
          <p:cNvPr id="70" name="图片" descr="image.pn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571500" y="258603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71" name="图片" descr="image.png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571500" y="317658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72" name="图片" descr="image.png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571500" y="376713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73" name="图片" descr="image.png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571500" y="4662487"/>
            <a:ext cx="266700" cy="276225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74" name="图片" descr="image.png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75" name="矩形"/>
          <p:cNvSpPr>
            <a:spLocks/>
          </p:cNvSpPr>
          <p:nvPr/>
        </p:nvSpPr>
        <p:spPr>
          <a:xfrm rot="0">
            <a:off x="1047750" y="258603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Successful Deployment: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A fully functional web-based vault for depositing and withdrawing assets with total privacy.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1047750" y="317658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Zero-Plaintext Storage: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No sensitive files are stored in their original form; everything is encrypted at the byte level.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1047750" y="376713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Secure Auditing: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Verified tamper-proof logs that can detect if an audit entry has been altered, ensuring accountability.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1047750" y="4662487"/>
            <a:ext cx="10572900" cy="3505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User Engagement:</a:t>
            </a: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 Premium UI/UX that makes high-level security management accessible and visually engaging.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809625" y="571500"/>
            <a:ext cx="11351400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RESULTS &amp; OUTCOMES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0" name="矩形"/>
          <p:cNvSpPr>
            <a:spLocks/>
          </p:cNvSpPr>
          <p:nvPr/>
        </p:nvSpPr>
        <p:spPr>
          <a:xfrm rot="0">
            <a:off x="571500" y="571500"/>
            <a:ext cx="95399" cy="523800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571500" y="6210300"/>
            <a:ext cx="11048999" cy="76200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pic>
        <p:nvPicPr>
          <p:cNvPr id="82" name="图片" descr="image.png"/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 rot="0">
            <a:off x="571500" y="258603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83" name="图片" descr="image.png"/>
          <p:cNvPicPr>
            <a:picLocks/>
          </p:cNvPicPr>
          <p:nvPr/>
        </p:nvPicPr>
        <p:blipFill>
          <a:blip r:embed="rId10" cstate="print"/>
          <a:stretch>
            <a:fillRect/>
          </a:stretch>
        </p:blipFill>
        <p:spPr>
          <a:xfrm rot="0">
            <a:off x="571500" y="317658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84" name="图片" descr="image.png"/>
          <p:cNvPicPr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 rot="0">
            <a:off x="571500" y="3767137"/>
            <a:ext cx="266700" cy="276224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85" name="图片" descr="image.png"/>
          <p:cNvPicPr>
            <a:picLocks/>
          </p:cNvPicPr>
          <p:nvPr/>
        </p:nvPicPr>
        <p:blipFill>
          <a:blip r:embed="rId12" cstate="print"/>
          <a:stretch>
            <a:fillRect/>
          </a:stretch>
        </p:blipFill>
        <p:spPr>
          <a:xfrm rot="0">
            <a:off x="571500" y="4662487"/>
            <a:ext cx="266700" cy="276225"/>
          </a:xfrm>
          <a:prstGeom prst="rect"/>
          <a:noFill/>
          <a:ln w="12700" cmpd="sng" cap="flat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32611448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图片" descr="image.png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  <a:noFill/>
          <a:ln w="12700" cmpd="sng" cap="flat">
            <a:noFill/>
            <a:prstDash val="solid"/>
            <a:round/>
          </a:ln>
        </p:spPr>
      </p:pic>
      <p:pic>
        <p:nvPicPr>
          <p:cNvPr id="89" name="图片" descr="image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49200" y="4851566"/>
            <a:ext cx="9803122" cy="1520334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90" name="矩形"/>
          <p:cNvSpPr>
            <a:spLocks/>
          </p:cNvSpPr>
          <p:nvPr/>
        </p:nvSpPr>
        <p:spPr>
          <a:xfrm rot="0">
            <a:off x="1420504" y="486100"/>
            <a:ext cx="9798300" cy="5429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CONCLUSION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949200" y="486100"/>
            <a:ext cx="188700" cy="485100"/>
          </a:xfrm>
          <a:prstGeom prst="rect"/>
          <a:solidFill>
            <a:srgbClr val="D6F8A1"/>
          </a:solidFill>
          <a:ln w="12700" cmpd="sng" cap="flat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Calibri" pitchFamily="0" charset="0"/>
              <a:ea typeface="Calibri" pitchFamily="0" charset="0"/>
              <a:cs typeface="Calibri" pitchFamily="0" charset="0"/>
              <a:sym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949200" y="1323916"/>
            <a:ext cx="10293600" cy="266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FFF6E9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Project Impact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949200" y="1747235"/>
            <a:ext cx="9803100" cy="7010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S.A.M successfully demonstrates that heavy cybersecurity measures can be integrated seamlessly with modern, premium web experiences without compromising performance.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4" name="矩形"/>
          <p:cNvSpPr>
            <a:spLocks/>
          </p:cNvSpPr>
          <p:nvPr/>
        </p:nvSpPr>
        <p:spPr>
          <a:xfrm rot="0">
            <a:off x="949200" y="3184751"/>
            <a:ext cx="10293600" cy="266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FFF6E9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Key Achievements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949200" y="3608070"/>
            <a:ext cx="9803100" cy="7010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We met all core objectives: robust byte-level encryption, role-based access control, and forensic blockchain auditing are live on the platform.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1514765" y="5072045"/>
            <a:ext cx="9204600" cy="2571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0" baseline="0">
                <a:solidFill>
                  <a:srgbClr val="D6F8A1"/>
                </a:solidFill>
                <a:latin typeface="Red Hat Display" pitchFamily="0" charset="0"/>
                <a:ea typeface="Red Hat Display" pitchFamily="0" charset="0"/>
                <a:cs typeface="Red Hat Display" pitchFamily="0" charset="0"/>
                <a:sym typeface="Red Hat Display" pitchFamily="0" charset="0"/>
              </a:rPr>
              <a:t>Future Roadmap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7" name="矩形"/>
          <p:cNvSpPr>
            <a:spLocks/>
          </p:cNvSpPr>
          <p:nvPr/>
        </p:nvSpPr>
        <p:spPr>
          <a:xfrm rot="0">
            <a:off x="1514765" y="5389533"/>
            <a:ext cx="8766300" cy="6705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0" cap="none" spc="0" baseline="0">
                <a:solidFill>
                  <a:srgbClr val="CED4DA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Expansion to multi-cloud storage clusters and integration of hardware-based MFA (U2F/FIDO2) for physical key authentication.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48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0</cp:revision>
  <dcterms:modified xsi:type="dcterms:W3CDTF">2026-06-25T13:17:47Z</dcterms:modified>
</cp:coreProperties>
</file>